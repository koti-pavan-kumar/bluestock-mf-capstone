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11430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3108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 &amp; Interactive Dashboard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Capstone Project — July 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126480"/>
            <a:ext cx="12192000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614476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Pavan Kumar Koti  |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1288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1097280"/>
            <a:ext cx="557784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5303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AUM, SIP data scattered across AMFI, NSE, BSE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Risk-Adjusted Comparison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can't compare funds on Sharpe/Alpha/Beta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Reporting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MF reports are PDFs — no drill-down or filtering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5943600" cy="502920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1887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1600200"/>
            <a:ext cx="5669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— Automated ETL pipeline from AMFI data</a:t>
            </a:r>
            <a:endParaRPr lang="en-US" sz="11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— Normalised 6-table SQLite star schema</a:t>
            </a:r>
            <a:endParaRPr lang="en-US" sz="11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— EDA: 13 charts, industry &amp; fund insights</a:t>
            </a:r>
            <a:endParaRPr lang="en-US" sz="11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— Risk metrics: Sharpe, VaR, Alpha, Beta</a:t>
            </a:r>
            <a:endParaRPr lang="en-US" sz="11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 — 4-page interactive Power BI dashboard</a:t>
            </a:r>
            <a:endParaRPr lang="en-US" sz="11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 — Fund recommender by risk appetite</a:t>
            </a:r>
            <a:endParaRPr lang="en-US" sz="11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 — Advanced risk: VaR/CVaR, HHI, cohorts</a:t>
            </a:r>
            <a:endParaRPr lang="en-US" sz="11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 — Final report + 12-slide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Scale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1288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88720"/>
            <a:ext cx="2651760" cy="12801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261872"/>
            <a:ext cx="26517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189280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Schemes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188720"/>
            <a:ext cx="2651760" cy="12801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08960" y="1261872"/>
            <a:ext cx="26517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08960" y="189280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Rows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188720"/>
            <a:ext cx="2651760" cy="12801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1261872"/>
            <a:ext cx="26517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943600" y="189280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78240" y="1188720"/>
            <a:ext cx="265176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78240" y="1261872"/>
            <a:ext cx="26517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Yrs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778240" y="189280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651760"/>
          <a:ext cx="11887200" cy="338328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7772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01_fund_master.csv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schemes, AMFI codes, expense ratios, risk grades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02_nav_history.csv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NAV, Jan 2022 to May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03_aum_by_fund_house.csv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AUM, 10 fund houses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04_monthly_sip_inflows.csv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SIP inflow &amp; active accounts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08_investor_transactions.csv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SIP/Lumpsum/Redemption, 5,000 investors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10_benchmark_indices.csv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 50/100/Midcap150/BSE SmallCap 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5 Layer ETL Pipeline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1288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143000"/>
            <a:ext cx="2011680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1234440"/>
            <a:ext cx="9601200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344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 datasets + live mfapi.in REST API (6 schemes)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187452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103120"/>
            <a:ext cx="201168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103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2194560"/>
            <a:ext cx="9601200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1945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parse dates, ffill holidays, dedupe, validate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2834640"/>
            <a:ext cx="27432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063240"/>
            <a:ext cx="2011680" cy="7315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063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77440" y="3154680"/>
            <a:ext cx="9601200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31546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6-table star schema via SQLAlchemy (46K+ rows)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3794760"/>
            <a:ext cx="27432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4023360"/>
            <a:ext cx="201168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40233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77440" y="4114800"/>
            <a:ext cx="9601200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4114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notebooks: EDA, CAGR, Sharpe, VaR, HHI, cohorts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97280" y="4754880"/>
            <a:ext cx="27432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4983480"/>
            <a:ext cx="2011680" cy="7315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983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377440" y="5074920"/>
            <a:ext cx="9601200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5074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4 pages, 8 tables, slicers, drill-through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Industry Trends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1288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97280"/>
            <a:ext cx="1188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— 2.7x Growth in 4 Years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554480"/>
          <a:ext cx="502920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2468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Inflow (Rs. Cr)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21,262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31,002 ← 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 — Nearly Doubled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0" y="1554480"/>
            <a:ext cx="640080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15544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03920" y="1554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13.26 Cr folios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0" y="2377440"/>
            <a:ext cx="6400800" cy="68580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3774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503920" y="23774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26.12 Cr folios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0" y="3200400"/>
            <a:ext cx="640080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3200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503920" y="32004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+97% in 4 years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669280" y="4023360"/>
            <a:ext cx="6400800" cy="68580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4023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rate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03920" y="4023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Mid-2024 onwards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28600" y="5029200"/>
            <a:ext cx="11887200" cy="548640"/>
          </a:xfrm>
          <a:prstGeom prst="rect">
            <a:avLst/>
          </a:prstGeom>
          <a:solidFill>
            <a:srgbClr val="FFF9C4"/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Allocation: Banking 19.2% | IT 13.4% | Pharma 12.0% = 45% of total equity portfolio weight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Investor Analytics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1288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188720"/>
            <a:ext cx="3749040" cy="1737360"/>
          </a:xfrm>
          <a:prstGeom prst="rect">
            <a:avLst/>
          </a:prstGeom>
          <a:solidFill>
            <a:srgbClr val="0D2B5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371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28600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investor IDs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51960" y="1188720"/>
            <a:ext cx="3749040" cy="1737360"/>
          </a:xfrm>
          <a:prstGeom prst="rect">
            <a:avLst/>
          </a:prstGeom>
          <a:solidFill>
            <a:srgbClr val="0077B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51960" y="1371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251960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spread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75320" y="1188720"/>
            <a:ext cx="3749040" cy="1737360"/>
          </a:xfrm>
          <a:prstGeom prst="rect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75320" y="1371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66.3%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75320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Transactions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7532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Top-30 city share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200400"/>
            <a:ext cx="3749040" cy="1737360"/>
          </a:xfrm>
          <a:prstGeom prst="rect">
            <a:avLst/>
          </a:prstGeom>
          <a:solidFill>
            <a:srgbClr val="0D2B5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yrs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2860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Age Group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4526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SIP investors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51960" y="3200400"/>
            <a:ext cx="3749040" cy="1737360"/>
          </a:xfrm>
          <a:prstGeom prst="rect">
            <a:avLst/>
          </a:prstGeom>
          <a:solidFill>
            <a:srgbClr val="0077B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5196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56+ yrs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25196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SIP Ticket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4526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Rs. 11,575/SIP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75320" y="3200400"/>
            <a:ext cx="3749040" cy="1737360"/>
          </a:xfrm>
          <a:prstGeom prst="rect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7532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27532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75320" y="4526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T30 and B30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" y="5212080"/>
            <a:ext cx="11887200" cy="502920"/>
          </a:xfrm>
          <a:prstGeom prst="rect">
            <a:avLst/>
          </a:prstGeom>
          <a:solidFill>
            <a:srgbClr val="EFF6FF"/>
          </a:solidFill>
          <a:ln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Mix: SIP 60.2%  |  Lumpsum 24.7%  |  Redemption 15.1%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— Methodology &amp; Formulas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1288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1097280"/>
            <a:ext cx="12070080" cy="576072"/>
          </a:xfrm>
          <a:prstGeom prst="rect">
            <a:avLst/>
          </a:prstGeom>
          <a:solidFill>
            <a:srgbClr val="F0F9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97280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097280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NAV_end / NAV_start ) ^ ( 1 / n_years ) - 1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0" y="1097280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actual trading days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1709928"/>
            <a:ext cx="120700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09928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1709928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Rp - Rf ) / Std(Rp) × √252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0" y="1709928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= 6.5% (RBI repo)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322576"/>
            <a:ext cx="12070080" cy="576072"/>
          </a:xfrm>
          <a:prstGeom prst="rect">
            <a:avLst/>
          </a:prstGeom>
          <a:solidFill>
            <a:srgbClr val="F0F9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22576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322576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Rp - Rf ) / Downside_Std × √252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0" y="2322576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days only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935224"/>
            <a:ext cx="120700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35224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935224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OLS intercept × 252  (annualised)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0" y="2935224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Nifty 100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3547872"/>
            <a:ext cx="12070080" cy="576072"/>
          </a:xfrm>
          <a:prstGeom prst="rect">
            <a:avLst/>
          </a:prstGeom>
          <a:solidFill>
            <a:srgbClr val="F0F9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47872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547872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OLS slope of fund returns on benchmark returns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61120" y="3547872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scipy.stats.linregress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4160520"/>
            <a:ext cx="120700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160520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4160520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 NAV / running_max - 1 )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61120" y="4160520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Peak-to-trough date range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4773168"/>
            <a:ext cx="12070080" cy="576072"/>
          </a:xfrm>
          <a:prstGeom prst="rect">
            <a:avLst/>
          </a:prstGeom>
          <a:solidFill>
            <a:srgbClr val="F0F9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773168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(95%)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86000" y="4773168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5th percentile of daily return distribution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961120" y="4773168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method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" y="5385816"/>
            <a:ext cx="120700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5385816"/>
            <a:ext cx="1920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(95%)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286000" y="5385816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of returns below the VaR threshold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61120" y="5385816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shortfall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— Top 10 Funds (0-100 Composite Score)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1288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51560"/>
            <a:ext cx="1188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30% × 3yr Return Rank + 25% × Sharpe Rank + 20% × Alpha Rank + 15% × Expense Rank (inv) + 10% × Max DD Rank (inv)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554480"/>
          <a:ext cx="12070080" cy="4663440"/>
        </p:xfrm>
        <a:graphic>
          <a:graphicData uri="http://schemas.openxmlformats.org/drawingml/2006/table">
            <a:tbl>
              <a:tblPr/>
              <a:tblGrid>
                <a:gridCol w="548640"/>
                <a:gridCol w="4114800"/>
                <a:gridCol w="822960"/>
                <a:gridCol w="1005840"/>
                <a:gridCol w="914400"/>
                <a:gridCol w="1005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CAGR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Mid-Cap Opportunities -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Bluechip -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Top 100 Equity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Midcap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India Large 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Emerging Equity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 Mid 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4 Pages Built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1288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188720"/>
            <a:ext cx="585216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Industry 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(AUM Rs.81L Cr, SIP Rs.31K Cr, Folios 26.12Cr), AUM trend line, AUM bar by AMC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55080" y="1188720"/>
            <a:ext cx="585216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3258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Fund Performance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vs Risk scatter, sortable scorecard table, NAV vs benchmark, 4 slicers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657600"/>
            <a:ext cx="5852160" cy="2286000"/>
          </a:xfrm>
          <a:prstGeom prst="rect">
            <a:avLst/>
          </a:prstGeom>
          <a:solidFill>
            <a:srgbClr val="E0F2F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947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Investor Analytics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25196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by state, SIP/Lumpsum/Redemption donut, age group bars, transaction volume trend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3657600"/>
            <a:ext cx="5852160" cy="2286000"/>
          </a:xfrm>
          <a:prstGeom prst="rect">
            <a:avLst/>
          </a:prstGeom>
          <a:solidFill>
            <a:srgbClr val="E0F2F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7947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SIP &amp; Market Trends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SIP+Nifty50, category heatmap matrix, top-5 categories, SIP accounts KPI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" y="6080760"/>
            <a:ext cx="1188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include interactive slicers with cross-filtering. Tooltips and drill-through enabled.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— Risk &amp; Behaviour Insights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1288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188720"/>
            <a:ext cx="2834640" cy="2926080"/>
          </a:xfrm>
          <a:prstGeom prst="rect">
            <a:avLst/>
          </a:prstGeom>
          <a:solidFill>
            <a:srgbClr val="0D2B5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3258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28600" y="2331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daily VaR (95%)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880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0.02% for Liquid funds — 135x risk gap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834640" cy="2926080"/>
          </a:xfrm>
          <a:prstGeom prst="rect">
            <a:avLst/>
          </a:prstGeom>
          <a:solidFill>
            <a:srgbClr val="0077B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3258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91840" y="2331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Sharpe (ICICI Liquid)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880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returns, annualised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1188720"/>
            <a:ext cx="2834640" cy="2926080"/>
          </a:xfrm>
          <a:prstGeom prst="rect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3258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55080" y="2331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Sector HHI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880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— concentrated portfolio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418320" y="1188720"/>
            <a:ext cx="2834640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2700000">
              <a:srgbClr val="AAAAAA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18320" y="13258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418320" y="2331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at-risk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0" y="2880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with avg gap &gt; 35 days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" y="4343400"/>
            <a:ext cx="1188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Output (sample — High risk appetite):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754880"/>
          <a:ext cx="11887200" cy="1554480"/>
        </p:xfrm>
        <a:graphic>
          <a:graphicData uri="http://schemas.openxmlformats.org/drawingml/2006/table">
            <a:tbl>
              <a:tblPr/>
              <a:tblGrid>
                <a:gridCol w="548640"/>
                <a:gridCol w="5943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CAGR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Emerging Equity Fund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Fund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Midcap Fund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Takeaways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1288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1143000"/>
            <a:ext cx="594360" cy="10515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143000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530352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143000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leads in AUM every year (2022-2025), reaching Rs. 12.5L Cr by 2025.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143000"/>
            <a:ext cx="59436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143000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0" y="1143000"/>
            <a:ext cx="530352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1143000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grew 2.7x in 4 years — Rs. 31,002 Cr ATH in Dec 2025, signalling deepening equity culture.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404872"/>
            <a:ext cx="594360" cy="10515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404872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2404872"/>
            <a:ext cx="5303520" cy="105156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404872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MF folios nearly doubled (13.26 Cr to 26.12 Cr), with growth accelerating from mid-2024.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2404872"/>
            <a:ext cx="59436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404872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8000" y="2404872"/>
            <a:ext cx="5303520" cy="105156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2404872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(Regular) tops the Fund Scorecard at 86.3 — strong CAGR, Sharpe, low cost.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3666744"/>
            <a:ext cx="594360" cy="10515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3666744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77240" y="3666744"/>
            <a:ext cx="530352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666744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VaR (2.69%) is 135x higher than Liquid fund VaR (0.02%) — risk hierarchy matches expectations.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3666744"/>
            <a:ext cx="59436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666744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58000" y="3666744"/>
            <a:ext cx="530352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76872" y="3666744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plans cost 0.57pp less on average than Regular plans — material long-term compounding advantage.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4928616"/>
            <a:ext cx="594360" cy="10515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928616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77240" y="4928616"/>
            <a:ext cx="5303520" cy="105156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928616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(19.2%) + IT (13.4%) + Pharma (12%) = 45% of equity portfolio weight — hidden concentration risk.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4928616"/>
            <a:ext cx="59436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4928616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858000" y="4928616"/>
            <a:ext cx="5303520" cy="105156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76872" y="4928616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note: near-zero R-squared vs Nifty 100 (0.0006) is a synthetic data characteristic — documented.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12192000" cy="15544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0"/>
            <a:ext cx="1188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1188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Mutual Fund Analytics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651760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 github.com/koti-pavan-kumar/bluestock-mf-capstone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3154680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kotipavankumar12@gmail.com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3657600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 linkedin.com/in/pavan-kumar-koti-200b4438b/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4160520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Intern:  Pavan Kumar Koti | Data Analyst Intern | Cohort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5120640"/>
            <a:ext cx="1188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July 2026  |  Confidential — For Mentor Review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2026-07-02T14:01:36Z</dcterms:created>
  <dcterms:modified xsi:type="dcterms:W3CDTF">2026-07-02T14:01:36Z</dcterms:modified>
</cp:coreProperties>
</file>